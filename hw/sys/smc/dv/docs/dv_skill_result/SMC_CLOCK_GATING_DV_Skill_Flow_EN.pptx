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640080"/>
          </a:xfrm>
          <a:prstGeom prst="rect">
            <a:avLst/>
          </a:prstGeom>
          <a:noFill/>
        </p:spPr>
        <p:txBody>
          <a:bodyPr wrap="square" lIns="0" rIns="50800" t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AI-Assisted DV Quality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097280"/>
          </a:xfrm>
          <a:prstGeom prst="rect">
            <a:avLst/>
          </a:prstGeom>
          <a:noFill/>
        </p:spPr>
        <p:txBody>
          <a:bodyPr wrap="square" lIns="0" rIns="50800" t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What we added: Skill 1 → 1.5 → 2 → 3 quality loop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What it delivers: clearer proof, earlier gaps, real RTL/sim bugs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Case: SMC_CLOCK_GATING  (P0 / P1 / P2 Done)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3440"/>
            <a:ext cx="11277295" cy="731520"/>
          </a:xfrm>
          <a:prstGeom prst="rect">
            <a:avLst/>
          </a:prstGeom>
          <a:noFill/>
        </p:spPr>
        <p:txBody>
          <a:bodyPr wrap="square" lIns="0" rIns="50800" t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Does not replace FCOV, code coverage, regression, design review, or signoff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1600" bIns="508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Agenda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CBD5E1"/>
                </a:solidFill>
                <a:latin typeface="Calibri"/>
              </a:rPr>
              <a:t>Steps · key points ·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20" y="1234440"/>
            <a:ext cx="9859975" cy="457200"/>
          </a:xfrm>
          <a:prstGeom prst="rect">
            <a:avLst/>
          </a:prstGeom>
          <a:noFill/>
        </p:spPr>
        <p:txBody>
          <a:bodyPr wrap="square" lIns="0" rIns="50800" t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Why this layer — the proof gap we close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56232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1947672"/>
            <a:ext cx="9859975" cy="457200"/>
          </a:xfrm>
          <a:prstGeom prst="rect">
            <a:avLst/>
          </a:prstGeom>
          <a:noFill/>
        </p:spPr>
        <p:txBody>
          <a:bodyPr wrap="square" lIns="0" rIns="50800" t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What we build — intent vs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9464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2660904"/>
            <a:ext cx="9859975" cy="457200"/>
          </a:xfrm>
          <a:prstGeom prst="rect">
            <a:avLst/>
          </a:prstGeom>
          <a:noFill/>
        </p:spPr>
        <p:txBody>
          <a:bodyPr wrap="square" lIns="0" rIns="50800" t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Who signs what — Designer / DV / Peer / Signoff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82696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3374136"/>
            <a:ext cx="9859975" cy="457200"/>
          </a:xfrm>
          <a:prstGeom prst="rect">
            <a:avLst/>
          </a:prstGeom>
          <a:noFill/>
        </p:spPr>
        <p:txBody>
          <a:bodyPr wrap="square" lIns="0" rIns="50800" t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How it runs — Skill 1 → 1.5 → 2 →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95928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4087368"/>
            <a:ext cx="9859975" cy="457200"/>
          </a:xfrm>
          <a:prstGeom prst="rect">
            <a:avLst/>
          </a:prstGeom>
          <a:noFill/>
        </p:spPr>
        <p:txBody>
          <a:bodyPr wrap="square" lIns="0" rIns="50800" t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Shared policy — two audit scopes (Skill 2 vs Skill 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70916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4800600"/>
            <a:ext cx="9859975" cy="457200"/>
          </a:xfrm>
          <a:prstGeom prst="rect">
            <a:avLst/>
          </a:prstGeom>
          <a:noFill/>
        </p:spPr>
        <p:txBody>
          <a:bodyPr wrap="square" lIns="0" rIns="50800" t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Case — SMC_CLOCK_GATING plan, tests, peer audit files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22392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20" y="5513832"/>
            <a:ext cx="9859975" cy="457200"/>
          </a:xfrm>
          <a:prstGeom prst="rect">
            <a:avLst/>
          </a:prstGeom>
          <a:noFill/>
        </p:spPr>
        <p:txBody>
          <a:bodyPr wrap="square" lIns="0" rIns="50800" t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Outcome — bug found (#4413) and P1 loop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12772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DV AI Quality Layer  ·  SMC_CLOCK_GATING case  ·  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1600" bIns="508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Why — the proof gap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CBD5E1"/>
                </a:solidFill>
                <a:latin typeface="Calibri"/>
              </a:rPr>
              <a:t>Coverage shows a test ran; it does not prove the right thing was checked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solidFill>
            <a:srgbClr val="9A3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5760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AI / fast DV can produce tests that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compile, PASS, and look complete —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while proving little or nothing.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Existing metrics (FCOV, CodeCov,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regression) confirm existence and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execution — not intent quality.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047" y="1005840"/>
            <a:ext cx="3657600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047" y="1371600"/>
            <a:ext cx="365760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Add an AI quality layer on top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of the current DV flow.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Three skills, one per phase: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Skill 1 — define the contract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Skill 2 — prove each test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Skill 3 — close the IP</a:t>
            </a:r>
          </a:p>
        </p:txBody>
      </p:sp>
      <p:sp>
        <p:nvSpPr>
          <p:cNvPr id="8" name="Rectangle 7"/>
          <p:cNvSpPr/>
          <p:nvPr/>
        </p:nvSpPr>
        <p:spPr>
          <a:xfrm>
            <a:off x="8076895" y="1005840"/>
            <a:ext cx="3657600" cy="3657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Principle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6895" y="1371600"/>
            <a:ext cx="365760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AI drafts at volume.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Humans own judgment.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Skills never self-approve.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Existing signoff still owns Done.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Nothing in FCOV / regression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/ design review is replaced.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772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DV AI Quality Layer  ·  SMC_CLOCK_GATING case  ·  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1600" bIns="508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Key point — two layers kept separate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CBD5E1"/>
                </a:solidFill>
                <a:latin typeface="Calibri"/>
              </a:rPr>
              <a:t>Intent (what SPEC requires)  ≠  Evidence (what the test proved)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430000" cy="3182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709160"/>
                <a:gridCol w="4709160"/>
              </a:tblGrid>
              <a:tr h="530351">
                <a:tc>
                  <a:txBody>
                    <a:bodyPr wrap="square" lIns="76200" rIns="76200" tIns="50800" bIns="50800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0B1F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5B21B6"/>
                          </a:solidFill>
                          <a:latin typeface="Calibri"/>
                          <a:highlight>
                            <a:srgbClr val="C4B5FD"/>
                          </a:highlight>
                        </a:rPr>
                        <a:t>feature_list</a:t>
                      </a:r>
                      <a:r>
                        <a:rPr sz="1400" b="1">
                          <a:solidFill>
                            <a:srgbClr val="0B1F3A"/>
                          </a:solidFill>
                          <a:latin typeface="Calibri"/>
                        </a:rPr>
                        <a:t> (intent)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92400E"/>
                          </a:solidFill>
                          <a:latin typeface="Calibri"/>
                          <a:highlight>
                            <a:srgbClr val="FDE68A"/>
                          </a:highlight>
                        </a:rPr>
                        <a:t>Checkbox sets</a:t>
                      </a:r>
                      <a:r>
                        <a:rPr sz="1400" b="1">
                          <a:solidFill>
                            <a:srgbClr val="0B1F3A"/>
                          </a:solidFill>
                          <a:latin typeface="Calibri"/>
                        </a:rPr>
                        <a:t> (evidence)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530351">
                <a:tc>
                  <a:txBody>
                    <a:bodyPr wrap="square" lIns="76200" rIns="76200" tIns="50800" bIns="50800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Answers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What must be verified?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Did each step execute correctly?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1">
                <a:tc>
                  <a:txBody>
                    <a:bodyPr wrap="square" lIns="76200" rIns="76200" tIns="50800" bIns="50800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Scope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IP-wide requirements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Per-testcase proof steps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30351">
                <a:tc>
                  <a:txBody>
                    <a:bodyPr wrap="square" lIns="76200" rIns="76200" tIns="50800" bIns="50800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Built by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Skill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Skill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1">
                <a:tc>
                  <a:txBody>
                    <a:bodyPr wrap="square" lIns="76200" rIns="76200" tIns="50800" bIns="50800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Checked by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Skill 3 (coverage closure)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Skill 2 (self-audit)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30356">
                <a:tc>
                  <a:txBody>
                    <a:bodyPr wrap="square" lIns="76200" rIns="76200" tIns="50800" bIns="50800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Owner gate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Designer sign-off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50800" bIns="50800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DV Owner sign-off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983480"/>
            <a:ext cx="11277295" cy="868680"/>
          </a:xfrm>
          <a:prstGeom prst="rect">
            <a:avLst/>
          </a:prstGeom>
          <a:noFill/>
        </p:spPr>
        <p:txBody>
          <a:bodyPr wrap="square" lIns="0" rIns="50800" t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Milestone closes only when: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1) </a:t>
            </a:r>
            <a:r>
              <a:rPr sz="1400" b="1">
                <a:solidFill>
                  <a:srgbClr val="92400E"/>
                </a:solidFill>
                <a:latin typeface="Calibri"/>
                <a:highlight>
                  <a:srgbClr val="FDE68A"/>
                </a:highlight>
              </a:rPr>
              <a:t>checkbox sets</a:t>
            </a:r>
            <a:r>
              <a:rPr sz="1400" b="0">
                <a:solidFill>
                  <a:srgbClr val="475569"/>
                </a:solidFill>
                <a:latin typeface="Calibri"/>
              </a:rPr>
              <a:t> cover every required </a:t>
            </a:r>
            <a:r>
              <a:rPr sz="1400" b="1">
                <a:solidFill>
                  <a:srgbClr val="5B21B6"/>
                </a:solidFill>
                <a:latin typeface="Calibri"/>
                <a:highlight>
                  <a:srgbClr val="C4B5FD"/>
                </a:highlight>
              </a:rPr>
              <a:t>feature_list</a:t>
            </a:r>
            <a:r>
              <a:rPr sz="1400" b="0">
                <a:solidFill>
                  <a:srgbClr val="475569"/>
                </a:solidFill>
                <a:latin typeface="Calibri"/>
              </a:rPr>
              <a:t> item, and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2) every mapped </a:t>
            </a:r>
            <a:r>
              <a:rPr sz="1400" b="1">
                <a:solidFill>
                  <a:srgbClr val="92400E"/>
                </a:solidFill>
                <a:latin typeface="Calibri"/>
                <a:highlight>
                  <a:srgbClr val="FDE68A"/>
                </a:highlight>
              </a:rPr>
              <a:t>checkbox</a:t>
            </a:r>
            <a:r>
              <a:rPr sz="1400" b="0">
                <a:solidFill>
                  <a:srgbClr val="475569"/>
                </a:solidFill>
                <a:latin typeface="Calibri"/>
              </a:rPr>
              <a:t> is proven by retained log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893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Color key:  </a:t>
            </a:r>
            <a:r>
              <a:rPr sz="1100" b="1">
                <a:solidFill>
                  <a:srgbClr val="5B21B6"/>
                </a:solidFill>
                <a:latin typeface="Calibri"/>
                <a:highlight>
                  <a:srgbClr val="C4B5FD"/>
                </a:highlight>
              </a:rPr>
              <a:t>feature_list</a:t>
            </a:r>
            <a:r>
              <a:rPr sz="1100" b="0">
                <a:solidFill>
                  <a:srgbClr val="475569"/>
                </a:solidFill>
                <a:latin typeface="Calibri"/>
              </a:rPr>
              <a:t>   </a:t>
            </a:r>
            <a:r>
              <a:rPr sz="1100" b="1">
                <a:solidFill>
                  <a:srgbClr val="92400E"/>
                </a:solidFill>
                <a:latin typeface="Calibri"/>
                <a:highlight>
                  <a:srgbClr val="FDE68A"/>
                </a:highlight>
              </a:rPr>
              <a:t>checkbox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DV AI Quality Layer  ·  SMC_CLOCK_GATING case  ·  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1600" bIns="508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Who does what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CBD5E1"/>
                </a:solidFill>
                <a:latin typeface="Calibri"/>
              </a:rPr>
              <a:t>Clear ownership — AI never owns Done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743200" cy="36576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Designer / Architect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7432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Owns intended behavior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Signs off feature meaning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and SPEC answers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Gate after Skill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301898" y="1005840"/>
            <a:ext cx="27432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DV Owner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301898" y="1371600"/>
            <a:ext cx="27432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Owns implementation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and evidence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Skill 1.5: from each </a:t>
            </a:r>
            <a:r>
              <a:rPr sz="1300" b="1">
                <a:solidFill>
                  <a:srgbClr val="92400E"/>
                </a:solidFill>
                <a:latin typeface="Calibri"/>
                <a:highlight>
                  <a:srgbClr val="FDE68A"/>
                </a:highlight>
              </a:rPr>
              <a:t>checkbox</a:t>
            </a:r>
            <a:r>
              <a:rPr sz="1300" b="0">
                <a:solidFill>
                  <a:srgbClr val="0F172A"/>
                </a:solidFill>
                <a:latin typeface="Calibri"/>
              </a:rPr>
              <a:t>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implement the matching checker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Then Skill 2 audit + sign closure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46596" y="1005840"/>
            <a:ext cx="2743200" cy="365760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Peer Reviewer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6596" y="1371600"/>
            <a:ext cx="27432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Owns quality findings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(advisory only)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Did not implement the IP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Runs Skill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91295" y="1005840"/>
            <a:ext cx="2743200" cy="3657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Signoff Authority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91295" y="1371600"/>
            <a:ext cx="27432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Owns waivers and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final Done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Existing process retains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milestone signoff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AI never self-approves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112772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DV AI Quality Layer  ·  SMC_CLOCK_GATING case  ·  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1600" bIns="508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Artifacts by role — who signs what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CBD5E1"/>
                </a:solidFill>
                <a:latin typeface="Calibri"/>
              </a:rPr>
              <a:t>Designer owns intent; DV owns proof mechanics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532120" cy="36576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Designer signs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53212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Must sign: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</a:t>
            </a:r>
            <a:r>
              <a:rPr sz="1400" b="1">
                <a:solidFill>
                  <a:srgbClr val="5B21B6"/>
                </a:solidFill>
                <a:latin typeface="Calibri"/>
                <a:highlight>
                  <a:srgbClr val="C4B5FD"/>
                </a:highlight>
              </a:rPr>
              <a:t>feature_list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  (what the SPEC requires)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Also confirms: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SPEC open questions answered / waived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Feature ↔ proof mapping is correct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Why it matters: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If intent is wrong, every later PASS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can prove the wrong thing.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Gate: before any test is written.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DV Owner reviews / signs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48640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Must review / sign: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</a:t>
            </a:r>
            <a:r>
              <a:rPr sz="1400" b="1">
                <a:solidFill>
                  <a:srgbClr val="92400E"/>
                </a:solidFill>
                <a:latin typeface="Calibri"/>
                <a:highlight>
                  <a:srgbClr val="FDE68A"/>
                </a:highlight>
              </a:rPr>
              <a:t>checkbox sets</a:t>
            </a:r>
            <a:r>
              <a:rPr sz="1400" b="0">
                <a:solidFill>
                  <a:srgbClr val="0F172A"/>
                </a:solidFill>
                <a:latin typeface="Calibri"/>
              </a:rPr>
              <a:t> (per-test proof steps)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Testcase set and ownership split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Deferred / out-of-milestone gaps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Later also signs: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Skill 2 audit grades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  (evidence-closed)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Why it matters: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Proof mechanics must be implementable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and able to fail when wrong.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Gate: before / during implementation.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772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DV AI Quality Layer  ·  SMC_CLOCK_GATING case  ·  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1600" bIns="508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How it runs — four steps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CBD5E1"/>
                </a:solidFill>
                <a:latin typeface="Calibri"/>
              </a:rPr>
              <a:t>One chain from SPEC to milestone Done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1.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36192"/>
            <a:ext cx="2606040" cy="36576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Skill 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606040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Focus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260604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Turn SPEC into an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approvable contract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B21B6"/>
                </a:solidFill>
                <a:latin typeface="Calibri"/>
                <a:highlight>
                  <a:srgbClr val="C4B5FD"/>
                </a:highlight>
              </a:rPr>
              <a:t>feature_list</a:t>
            </a:r>
            <a:r>
              <a:rPr sz="1300" b="0">
                <a:solidFill>
                  <a:srgbClr val="0F172A"/>
                </a:solidFill>
                <a:latin typeface="Calibri"/>
              </a:rPr>
              <a:t>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Designer approved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92400E"/>
                </a:solidFill>
                <a:latin typeface="Calibri"/>
                <a:highlight>
                  <a:srgbClr val="FDE68A"/>
                </a:highlight>
              </a:rPr>
              <a:t>checkbox sets</a:t>
            </a:r>
            <a:r>
              <a:rPr sz="1300" b="0">
                <a:solidFill>
                  <a:srgbClr val="0F172A"/>
                </a:solidFill>
                <a:latin typeface="Calibri"/>
              </a:rPr>
              <a:t>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DV reviewed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63240" y="1097280"/>
            <a:ext cx="201168" cy="146304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47618" y="1005840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2. Implement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7618" y="1536192"/>
            <a:ext cx="2606040" cy="36576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Skill 1.5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7618" y="2011680"/>
            <a:ext cx="2606040" cy="3657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Focus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47618" y="2377440"/>
            <a:ext cx="260604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From each </a:t>
            </a:r>
            <a:r>
              <a:rPr sz="1300" b="1">
                <a:solidFill>
                  <a:srgbClr val="92400E"/>
                </a:solidFill>
                <a:latin typeface="Calibri"/>
                <a:highlight>
                  <a:srgbClr val="FDE68A"/>
                </a:highlight>
              </a:rPr>
              <a:t>checkbox</a:t>
            </a:r>
            <a:r>
              <a:rPr sz="1300" b="0">
                <a:solidFill>
                  <a:srgbClr val="0F172A"/>
                </a:solidFill>
                <a:latin typeface="Calibri"/>
              </a:rPr>
              <a:t>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implement its checker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Run test; emit kept-log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evidence tokens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53658" y="1097280"/>
            <a:ext cx="201168" cy="146304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8036" y="1005840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3. Audit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8036" y="1536192"/>
            <a:ext cx="2606040" cy="36576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Skill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8036" y="2011680"/>
            <a:ext cx="2606040" cy="3657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Focus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8036" y="2377440"/>
            <a:ext cx="260604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Is each checker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correct + matches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its </a:t>
            </a:r>
            <a:r>
              <a:rPr sz="1300" b="1">
                <a:solidFill>
                  <a:srgbClr val="92400E"/>
                </a:solidFill>
                <a:latin typeface="Calibri"/>
                <a:highlight>
                  <a:srgbClr val="FDE68A"/>
                </a:highlight>
              </a:rPr>
              <a:t>checkbox</a:t>
            </a:r>
            <a:r>
              <a:rPr sz="1300" b="0">
                <a:solidFill>
                  <a:srgbClr val="0F172A"/>
                </a:solidFill>
                <a:latin typeface="Calibri"/>
              </a:rPr>
              <a:t>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Re-audit if needed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44076" y="1097280"/>
            <a:ext cx="201168" cy="146304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28455" y="1005840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9F1239"/>
          </a:solidFill>
          <a:ln>
            <a:solidFill>
              <a:srgbClr val="9F1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4. Peer close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28455" y="1536192"/>
            <a:ext cx="2606040" cy="36576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Skill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28455" y="2011680"/>
            <a:ext cx="2606040" cy="365760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Focus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28455" y="2377440"/>
            <a:ext cx="260604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IP-wide coverage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+ intent review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Then human signoff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03520"/>
            <a:ext cx="11277295" cy="731520"/>
          </a:xfrm>
          <a:prstGeom prst="rect">
            <a:avLst/>
          </a:prstGeom>
          <a:noFill/>
        </p:spPr>
        <p:txBody>
          <a:bodyPr wrap="square" lIns="0" rIns="50800" t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Loops are expected:  NOT-READY → rework → re-audit  ·  gap → amend plan → re-prove  ·  peer FAIL → fix → re-review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112772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DV AI Quality Layer  ·  SMC_CLOCK_GATING case  ·  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1600" bIns="508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Step 1 — Skill 1  (Plan)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CBD5E1"/>
                </a:solidFill>
                <a:latin typeface="Calibri"/>
              </a:rPr>
              <a:t>Build the verification contract before coding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2011680" cy="1051560"/>
          </a:xfrm>
          <a:prstGeom prst="roundRect">
            <a:avLst>
              <a:gd name="adj" fmla="val 10000"/>
            </a:avLst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Pinned SPEC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+ scope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68880" y="1389888"/>
            <a:ext cx="182880" cy="146304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73603" y="1005840"/>
            <a:ext cx="2011680" cy="105156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Draft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B21B6"/>
                </a:solidFill>
                <a:latin typeface="Calibri"/>
                <a:highlight>
                  <a:srgbClr val="C4B5FD"/>
                </a:highlight>
              </a:rPr>
              <a:t>feature_list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85283" y="1389888"/>
            <a:ext cx="182880" cy="146304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90007" y="1005840"/>
            <a:ext cx="2011680" cy="105156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Plan +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cards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01687" y="1389888"/>
            <a:ext cx="182880" cy="146304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06411" y="1005840"/>
            <a:ext cx="2011680" cy="105156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Review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packets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418091" y="1389888"/>
            <a:ext cx="182880" cy="146304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22815" y="1005840"/>
            <a:ext cx="2011680" cy="1051560"/>
          </a:xfrm>
          <a:prstGeom prst="roundRect">
            <a:avLst>
              <a:gd name="adj" fmla="val 10000"/>
            </a:avLst>
          </a:prstGeom>
          <a:solidFill>
            <a:srgbClr val="9A3412"/>
          </a:solidFill>
          <a:ln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Human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approve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68880"/>
            <a:ext cx="5532120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Key points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5532120" cy="2834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Turns SPEC into atomic features + per-test </a:t>
            </a:r>
            <a:r>
              <a:rPr sz="1400" b="1">
                <a:solidFill>
                  <a:srgbClr val="92400E"/>
                </a:solidFill>
                <a:latin typeface="Calibri"/>
                <a:highlight>
                  <a:srgbClr val="FDE68A"/>
                </a:highlight>
              </a:rPr>
              <a:t>checkboxes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Designer signs intent; DV signs test set / cards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Quality ceiling is set here — a bad plan makes later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  audits prove the wrong thing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Amend later if a card is unobservable or incomplete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468880"/>
            <a:ext cx="5486400" cy="3657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Outcome of this step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834640"/>
            <a:ext cx="5486400" cy="2834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Approved </a:t>
            </a:r>
            <a:r>
              <a:rPr sz="1400" b="1">
                <a:solidFill>
                  <a:srgbClr val="5B21B6"/>
                </a:solidFill>
                <a:latin typeface="Calibri"/>
                <a:highlight>
                  <a:srgbClr val="C4B5FD"/>
                </a:highlight>
              </a:rPr>
              <a:t>feature_list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Approved Testcase Plan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Approved </a:t>
            </a:r>
            <a:r>
              <a:rPr sz="1400" b="1">
                <a:solidFill>
                  <a:srgbClr val="92400E"/>
                </a:solidFill>
                <a:latin typeface="Calibri"/>
                <a:highlight>
                  <a:srgbClr val="FDE68A"/>
                </a:highlight>
              </a:rPr>
              <a:t>checkbox</a:t>
            </a:r>
            <a:r>
              <a:rPr sz="1400" b="0">
                <a:solidFill>
                  <a:srgbClr val="0F172A"/>
                </a:solidFill>
                <a:latin typeface="Calibri"/>
              </a:rPr>
              <a:t> cards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→ ready for Skill 1.5 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112772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DV AI Quality Layer  ·  SMC_CLOCK_GATING case  ·  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1600" bIns="508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Step 2 — Skill 1.5  (Implement)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CBD5E1"/>
                </a:solidFill>
                <a:latin typeface="Calibri"/>
              </a:rPr>
              <a:t>From each approved checkbox → implement its checker (+ evidence token)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566160" cy="1005840"/>
          </a:xfrm>
          <a:prstGeom prst="roundRect">
            <a:avLst>
              <a:gd name="adj" fmla="val 10000"/>
            </a:avLst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Approved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92400E"/>
                </a:solidFill>
                <a:latin typeface="Calibri"/>
                <a:highlight>
                  <a:srgbClr val="FDE68A"/>
                </a:highlight>
              </a:rPr>
              <a:t>checkbox</a:t>
            </a:r>
            <a:r>
              <a:rPr sz="1300" b="1">
                <a:solidFill>
                  <a:srgbClr val="FFFFFF"/>
                </a:solidFill>
                <a:latin typeface="Calibri"/>
              </a:rPr>
              <a:t> card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2767" y="1005840"/>
            <a:ext cx="3566160" cy="1005840"/>
          </a:xfrm>
          <a:prstGeom prst="roundRect">
            <a:avLst>
              <a:gd name="adj" fmla="val 10000"/>
            </a:avLst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Implement checker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per </a:t>
            </a:r>
            <a:r>
              <a:rPr sz="1300" b="1">
                <a:solidFill>
                  <a:srgbClr val="92400E"/>
                </a:solidFill>
                <a:latin typeface="Calibri"/>
                <a:highlight>
                  <a:srgbClr val="FDE68A"/>
                </a:highlight>
              </a:rPr>
              <a:t>checkbox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68335" y="1005840"/>
            <a:ext cx="3566160" cy="1005840"/>
          </a:xfrm>
          <a:prstGeom prst="roundRect">
            <a:avLst>
              <a:gd name="adj" fmla="val 10000"/>
            </a:avLst>
          </a:prstGeom>
          <a:solidFill>
            <a:srgbClr val="9A3412"/>
          </a:solidFill>
          <a:ln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Kept log has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all evidence tokens?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23360" y="1344168"/>
            <a:ext cx="320040" cy="146304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7878927" y="1344168"/>
            <a:ext cx="320040" cy="146304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5532120" cy="3657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Principle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5532120" cy="2834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Implement checkers from the approved </a:t>
            </a:r>
            <a:r>
              <a:rPr sz="1300" b="1">
                <a:solidFill>
                  <a:srgbClr val="92400E"/>
                </a:solidFill>
                <a:latin typeface="Calibri"/>
                <a:highlight>
                  <a:srgbClr val="FDE68A"/>
                </a:highlight>
              </a:rPr>
              <a:t>checkbox set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  — one </a:t>
            </a:r>
            <a:r>
              <a:rPr sz="1300" b="1">
                <a:solidFill>
                  <a:srgbClr val="92400E"/>
                </a:solidFill>
                <a:latin typeface="Calibri"/>
                <a:highlight>
                  <a:srgbClr val="FDE68A"/>
                </a:highlight>
              </a:rPr>
              <a:t>checkbox</a:t>
            </a:r>
            <a:r>
              <a:rPr sz="1300" b="0">
                <a:solidFill>
                  <a:srgbClr val="0F172A"/>
                </a:solidFill>
                <a:latin typeface="Calibri"/>
              </a:rPr>
              <a:t> → one real checker (not a free-form test)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Does not grade and does not claim PROVEN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Strongest claim: run finished and evidence tokens appeared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No DUT force / deposit on the proof path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If a </a:t>
            </a:r>
            <a:r>
              <a:rPr sz="1300" b="1">
                <a:solidFill>
                  <a:srgbClr val="92400E"/>
                </a:solidFill>
                <a:latin typeface="Calibri"/>
                <a:highlight>
                  <a:srgbClr val="FDE68A"/>
                </a:highlight>
              </a:rPr>
              <a:t>checkbox</a:t>
            </a:r>
            <a:r>
              <a:rPr sz="1300" b="0">
                <a:solidFill>
                  <a:srgbClr val="0F172A"/>
                </a:solidFill>
                <a:latin typeface="Calibri"/>
              </a:rPr>
              <a:t> is unobservable → back to Skill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468880"/>
            <a:ext cx="5486400" cy="3657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Outcome of this step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834640"/>
            <a:ext cx="5486400" cy="2834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Checkers wired to </a:t>
            </a:r>
            <a:r>
              <a:rPr sz="1300" b="1">
                <a:solidFill>
                  <a:srgbClr val="92400E"/>
                </a:solidFill>
                <a:latin typeface="Calibri"/>
                <a:highlight>
                  <a:srgbClr val="FDE68A"/>
                </a:highlight>
              </a:rPr>
              <a:t>checkboxes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Runnable test enrolled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Kept log with evidence tokens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→ handoff to Skill 2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112772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DV AI Quality Layer  ·  SMC_CLOCK_GATING case  ·  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1600" bIns="508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Step 3 — Skill 2  (Audit)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CBD5E1"/>
                </a:solidFill>
                <a:latin typeface="Calibri"/>
              </a:rPr>
              <a:t>Is each checker correct — and does it match its checkbox?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566160" cy="1005840"/>
          </a:xfrm>
          <a:prstGeom prst="roundRect">
            <a:avLst>
              <a:gd name="adj" fmla="val 10000"/>
            </a:avLst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Fresh audit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2767" y="1005840"/>
            <a:ext cx="3566160" cy="1005840"/>
          </a:xfrm>
          <a:prstGeom prst="roundRect">
            <a:avLst>
              <a:gd name="adj" fmla="val 10000"/>
            </a:avLst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Checker correct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+ matches </a:t>
            </a:r>
            <a:r>
              <a:rPr sz="1300" b="1">
                <a:solidFill>
                  <a:srgbClr val="92400E"/>
                </a:solidFill>
                <a:latin typeface="Calibri"/>
                <a:highlight>
                  <a:srgbClr val="FDE68A"/>
                </a:highlight>
              </a:rPr>
              <a:t>checkbox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68335" y="1005840"/>
            <a:ext cx="3566160" cy="1005840"/>
          </a:xfrm>
          <a:prstGeom prst="roundRect">
            <a:avLst>
              <a:gd name="adj" fmla="val 10000"/>
            </a:avLst>
          </a:prstGeom>
          <a:solidFill>
            <a:srgbClr val="9A3412"/>
          </a:solidFill>
          <a:ln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CLOSED or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NOT-READY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23360" y="1344168"/>
            <a:ext cx="320040" cy="146304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7878927" y="1344168"/>
            <a:ext cx="320040" cy="146304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5532120" cy="3657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Principle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553212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Audit: is each checker correct?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  (can fail when RTL / behavior is wrong)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Audit: does each checker match its </a:t>
            </a:r>
            <a:r>
              <a:rPr sz="1300" b="1">
                <a:solidFill>
                  <a:srgbClr val="92400E"/>
                </a:solidFill>
                <a:latin typeface="Calibri"/>
                <a:highlight>
                  <a:srgbClr val="FDE68A"/>
                </a:highlight>
              </a:rPr>
              <a:t>checkbox</a:t>
            </a:r>
            <a:r>
              <a:rPr sz="1300" b="0">
                <a:solidFill>
                  <a:srgbClr val="0F172A"/>
                </a:solidFill>
                <a:latin typeface="Calibri"/>
              </a:rPr>
              <a:t>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  (</a:t>
            </a:r>
            <a:r>
              <a:rPr sz="1300" b="1">
                <a:solidFill>
                  <a:srgbClr val="92400E"/>
                </a:solidFill>
                <a:latin typeface="Calibri"/>
                <a:highlight>
                  <a:srgbClr val="FDE68A"/>
                </a:highlight>
              </a:rPr>
              <a:t>checkbox</a:t>
            </a:r>
            <a:r>
              <a:rPr sz="1300" b="0">
                <a:solidFill>
                  <a:srgbClr val="0F172A"/>
                </a:solidFill>
                <a:latin typeface="Calibri"/>
              </a:rPr>
              <a:t> ↔ logged-proof evidence token)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Also scored against DV_QUALITY_POLICY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Simulation PASS starts the audit — not the finish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NOT-READY → rework → re-audit; DV signs closed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377440"/>
            <a:ext cx="5486400" cy="3657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Outcome of this step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743200"/>
            <a:ext cx="548640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Per-checker grade report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Checker ↔ </a:t>
            </a:r>
            <a:r>
              <a:rPr sz="1300" b="1">
                <a:solidFill>
                  <a:srgbClr val="92400E"/>
                </a:solidFill>
                <a:latin typeface="Calibri"/>
                <a:highlight>
                  <a:srgbClr val="FDE68A"/>
                </a:highlight>
              </a:rPr>
              <a:t>checkbox</a:t>
            </a:r>
            <a:r>
              <a:rPr sz="1300" b="0">
                <a:solidFill>
                  <a:srgbClr val="0F172A"/>
                </a:solidFill>
                <a:latin typeface="Calibri"/>
              </a:rPr>
              <a:t> alignment proven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Rework / re-audit loop closed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Card evidence-closed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→ when all cards closed: Skill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112772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DV AI Quality Layer  ·  SMC_CLOCK_GATING case  ·  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1600" bIns="508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Step 4 — Skill 3  (Peer close)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CBD5E1"/>
                </a:solidFill>
                <a:latin typeface="Calibri"/>
              </a:rPr>
              <a:t>Checked by peer — independent of the implementer / Skill 2 auditor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566160" cy="1005840"/>
          </a:xfrm>
          <a:prstGeom prst="roundRect">
            <a:avLst>
              <a:gd name="adj" fmla="val 10000"/>
            </a:avLst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All cards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CLOSED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2767" y="1005840"/>
            <a:ext cx="3566160" cy="1005840"/>
          </a:xfrm>
          <a:prstGeom prst="roundRect">
            <a:avLst>
              <a:gd name="adj" fmla="val 10000"/>
            </a:avLst>
          </a:prstGeom>
          <a:solidFill>
            <a:srgbClr val="9F1239"/>
          </a:solidFill>
          <a:ln>
            <a:solidFill>
              <a:srgbClr val="9F1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Checked by peer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(independent)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68335" y="1005840"/>
            <a:ext cx="3566160" cy="1005840"/>
          </a:xfrm>
          <a:prstGeom prst="roundRect">
            <a:avLst>
              <a:gd name="adj" fmla="val 10000"/>
            </a:avLst>
          </a:prstGeom>
          <a:solidFill>
            <a:srgbClr val="9A3412"/>
          </a:solidFill>
          <a:ln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Pass / Fail /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Insufficient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23360" y="1344168"/>
            <a:ext cx="320040" cy="146304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7878927" y="1344168"/>
            <a:ext cx="320040" cy="146304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5532120" cy="365760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Principle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553212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Checked by peer — not the same person / model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  who implemented or ran Skill 2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Defining job: do all </a:t>
            </a:r>
            <a:r>
              <a:rPr sz="1300" b="1">
                <a:solidFill>
                  <a:srgbClr val="92400E"/>
                </a:solidFill>
                <a:latin typeface="Calibri"/>
                <a:highlight>
                  <a:srgbClr val="FDE68A"/>
                </a:highlight>
              </a:rPr>
              <a:t>checkboxes</a:t>
            </a:r>
            <a:r>
              <a:rPr sz="1300" b="0">
                <a:solidFill>
                  <a:srgbClr val="0F172A"/>
                </a:solidFill>
                <a:latin typeface="Calibri"/>
              </a:rPr>
              <a:t> cover the </a:t>
            </a:r>
            <a:r>
              <a:rPr sz="1300" b="1">
                <a:solidFill>
                  <a:srgbClr val="5B21B6"/>
                </a:solidFill>
                <a:latin typeface="Calibri"/>
                <a:highlight>
                  <a:srgbClr val="C4B5FD"/>
                </a:highlight>
              </a:rPr>
              <a:t>feature_list</a:t>
            </a:r>
            <a:r>
              <a:rPr sz="1300" b="0">
                <a:solidFill>
                  <a:srgbClr val="0F172A"/>
                </a:solidFill>
                <a:latin typeface="Calibri"/>
              </a:rPr>
              <a:t>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Also catches wrong-target / never-wired intent gaps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Advisory only — no tracker / Done authority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FAIL / Insufficient → fix → peer re-check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377440"/>
            <a:ext cx="5486400" cy="3657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Outcome of this step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743200"/>
            <a:ext cx="548640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Peer-checked findings + one result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Coverage holes surfaced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Feeds existing signoff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→ Milestone Done (human)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112772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DV AI Quality Layer  ·  SMC_CLOCK_GATING case  ·  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1600" bIns="508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Shared policy — two audit scopes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CBD5E1"/>
                </a:solidFill>
                <a:latin typeface="Calibri"/>
              </a:rPr>
              <a:t>Same guideline file; different compare targets and methods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77295" cy="86868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Pinned quality guideline (both Skill 2 and Skill 3 read it)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DV_QUALITY_POLICY.md  —  forbidden patterns, PASS definition, severity / sampling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40280"/>
            <a:ext cx="5532120" cy="3657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Skill 2 — one test, deep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06040"/>
            <a:ext cx="5532120" cy="2240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Compares: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92400E"/>
                </a:solidFill>
                <a:latin typeface="Calibri"/>
                <a:highlight>
                  <a:srgbClr val="FDE68A"/>
                </a:highlight>
              </a:rPr>
              <a:t>checkbox set</a:t>
            </a:r>
            <a:r>
              <a:rPr sz="1300" b="0">
                <a:solidFill>
                  <a:srgbClr val="0F172A"/>
                </a:solidFill>
                <a:latin typeface="Calibri"/>
              </a:rPr>
              <a:t>  ↔  logged-proof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+  DV_QUALITY_POLICY rules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Asks: is each checker correct,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does it match its </a:t>
            </a:r>
            <a:r>
              <a:rPr sz="1300" b="1">
                <a:solidFill>
                  <a:srgbClr val="92400E"/>
                </a:solidFill>
                <a:latin typeface="Calibri"/>
                <a:highlight>
                  <a:srgbClr val="FDE68A"/>
                </a:highlight>
              </a:rPr>
              <a:t>checkbox</a:t>
            </a:r>
            <a:r>
              <a:rPr sz="1300" b="0">
                <a:solidFill>
                  <a:srgbClr val="0F172A"/>
                </a:solidFill>
                <a:latin typeface="Calibri"/>
              </a:rPr>
              <a:t>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and does it break any policy pattern?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240280"/>
            <a:ext cx="5486400" cy="365760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Skill 3 — whole IP, wide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606040"/>
            <a:ext cx="5486400" cy="2240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Compares: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B21B6"/>
                </a:solidFill>
                <a:latin typeface="Calibri"/>
                <a:highlight>
                  <a:srgbClr val="C4B5FD"/>
                </a:highlight>
              </a:rPr>
              <a:t>feature_list</a:t>
            </a:r>
            <a:r>
              <a:rPr sz="1300" b="0">
                <a:solidFill>
                  <a:srgbClr val="0F172A"/>
                </a:solidFill>
                <a:latin typeface="Calibri"/>
              </a:rPr>
              <a:t>  ↔  </a:t>
            </a:r>
            <a:r>
              <a:rPr sz="1300" b="1">
                <a:solidFill>
                  <a:srgbClr val="92400E"/>
                </a:solidFill>
                <a:latin typeface="Calibri"/>
                <a:highlight>
                  <a:srgbClr val="FDE68A"/>
                </a:highlight>
              </a:rPr>
              <a:t>checkbox</a:t>
            </a:r>
            <a:r>
              <a:rPr sz="1300" b="0">
                <a:solidFill>
                  <a:srgbClr val="0F172A"/>
                </a:solidFill>
                <a:latin typeface="Calibri"/>
              </a:rPr>
              <a:t> union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(from all CLOSED / green cards)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+  same DV_QUALITY_POLICY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Asks: do all green cards cover the SPEC,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and do intent / sampling findings still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break policy at IP scope?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77295" cy="1005840"/>
          </a:xfrm>
          <a:prstGeom prst="roundRect">
            <a:avLst>
              <a:gd name="adj" fmla="val 10000"/>
            </a:avLst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Why two scopes help the workflow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Skill 2 stops a hollow PASS before peer time is spent.  Skill 3 stops “every test looks green” while the </a:t>
            </a:r>
            <a:r>
              <a:rPr sz="1300" b="1">
                <a:solidFill>
                  <a:srgbClr val="5B21B6"/>
                </a:solidFill>
                <a:latin typeface="Calibri"/>
                <a:highlight>
                  <a:srgbClr val="C4B5FD"/>
                </a:highlight>
              </a:rPr>
              <a:t>feature_list</a:t>
            </a:r>
            <a:r>
              <a:rPr sz="1300" b="1">
                <a:solidFill>
                  <a:srgbClr val="FFFFFF"/>
                </a:solidFill>
                <a:latin typeface="Calibri"/>
              </a:rPr>
              <a:t> still has holes.  One policy keeps both audits scoring the same quality bar.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772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DV AI Quality Layer  ·  SMC_CLOCK_GATING case  ·  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1600" bIns="508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Case — SMC_CLOCK_GATING plan &amp; implementation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CBD5E1"/>
                </a:solidFill>
                <a:latin typeface="Calibri"/>
              </a:rPr>
              <a:t>Skill 1 / 2 / 3 outputs with example file names under hw/sys/smc/dv/tb/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Skill 1 —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5760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Build </a:t>
            </a:r>
            <a:r>
              <a:rPr sz="1100" b="1">
                <a:solidFill>
                  <a:srgbClr val="5B21B6"/>
                </a:solidFill>
                <a:latin typeface="Calibri"/>
                <a:highlight>
                  <a:srgbClr val="C4B5FD"/>
                </a:highlight>
              </a:rPr>
              <a:t>feature_list</a:t>
            </a:r>
            <a:r>
              <a:rPr sz="1100" b="0">
                <a:solidFill>
                  <a:srgbClr val="0F172A"/>
                </a:solidFill>
                <a:latin typeface="Calibri"/>
              </a:rPr>
              <a:t> + testplan + cards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Reviewed files (sign-off):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SMC_CLOCK_GATING_FEATURE_REVIEW.md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SMC_CLOCK_GATING_SPEC_REVIEW.md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SMC_CLOCK_GATING_TESTCASE_REVIEW.md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SMC_CLOCK_GATING_CARD_REVIEW.md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Contract / testplan: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SMC_CLOCK_GATING_SPEC_</a:t>
            </a:r>
            <a:r>
              <a:rPr sz="1100" b="1">
                <a:solidFill>
                  <a:srgbClr val="5B21B6"/>
                </a:solidFill>
                <a:latin typeface="Calibri"/>
                <a:highlight>
                  <a:srgbClr val="C4B5FD"/>
                </a:highlight>
              </a:rPr>
              <a:t>FEATURE_LIST</a:t>
            </a:r>
            <a:r>
              <a:rPr sz="1100" b="0">
                <a:solidFill>
                  <a:srgbClr val="0F172A"/>
                </a:solidFill>
                <a:latin typeface="Calibri"/>
              </a:rPr>
              <a:t>.md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SMC_CLOCK_GATING_TESTCASE_PLAN.md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SMC_CLOCK_GATING_VPLAN_DETAIL.md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047" y="1005840"/>
            <a:ext cx="3657600" cy="3657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Skill 1.5 + 2 — Implement &amp;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047" y="1371600"/>
            <a:ext cx="365760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Implement one approved card → audit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Testcase example: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smc_dma_cg_activity_test.py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smc_dma_cg_activity_test_seq.py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Also implemented: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smc_cg_test_mode_bypass_test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  (DFT / test_en → #4413)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Skill 2 grade example: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smc_dma_cg_activity_test_GRADE.md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Status board: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audit_status_smc_clock_gating.md</a:t>
            </a:r>
          </a:p>
        </p:txBody>
      </p:sp>
      <p:sp>
        <p:nvSpPr>
          <p:cNvPr id="8" name="Rectangle 7"/>
          <p:cNvSpPr/>
          <p:nvPr/>
        </p:nvSpPr>
        <p:spPr>
          <a:xfrm>
            <a:off x="8076895" y="1005840"/>
            <a:ext cx="3657600" cy="365760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Skill 3 — Peer close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6895" y="1371600"/>
            <a:ext cx="365760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IP-wide coverage + intent review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Peer audit report: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SMC_CLOCK_GATING_PEER_AUDIT.md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Reverse inventory: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SMC_CLOCK_GATING_REVERSE_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  FEATURE_INVENTORY.md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Pin + shared policy: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SMC_CLOCK_GATING_PIN.yaml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DV_QUALITY_POLICY.md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Result path: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INSUFF → FAIL → amend →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PASS 19/19 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772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DV AI Quality Layer  ·  SMC_CLOCK_GATING case  ·  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1600" bIns="508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Outcome — real bug found (#4413)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CBD5E1"/>
                </a:solidFill>
                <a:latin typeface="Calibri"/>
              </a:rPr>
              <a:t>Skill 1 extracted the feature_list from SPEC — the gap was a SPEC claim, not an RTL leftover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77295" cy="1417320"/>
          </a:xfrm>
          <a:prstGeom prst="roundRect">
            <a:avLst>
              <a:gd name="adj" fmla="val 10000"/>
            </a:avLst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Key message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Skill 1 extracted the </a:t>
            </a:r>
            <a:r>
              <a:rPr sz="1300" b="1">
                <a:solidFill>
                  <a:srgbClr val="5B21B6"/>
                </a:solidFill>
                <a:latin typeface="Calibri"/>
                <a:highlight>
                  <a:srgbClr val="C4B5FD"/>
                </a:highlight>
              </a:rPr>
              <a:t>feature_list</a:t>
            </a:r>
            <a:r>
              <a:rPr sz="1300" b="1">
                <a:solidFill>
                  <a:srgbClr val="FFFFFF"/>
                </a:solidFill>
                <a:latin typeface="Calibri"/>
              </a:rPr>
              <a:t> from SPEC (not from existing RTL / tests).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DFT / test_en bypass was a SPEC requirement that prior RTL-facing tests never forced,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so implementing that claim exposed a silent sim / model hole (#4413).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697480"/>
            <a:ext cx="5532120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How Skill 1 raised the bar to SPEC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063240"/>
            <a:ext cx="5532120" cy="2834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Skill 1 extracts the </a:t>
            </a:r>
            <a:r>
              <a:rPr sz="1300" b="1">
                <a:solidFill>
                  <a:srgbClr val="5B21B6"/>
                </a:solidFill>
                <a:latin typeface="Calibri"/>
                <a:highlight>
                  <a:srgbClr val="C4B5FD"/>
                </a:highlight>
              </a:rPr>
              <a:t>feature_list</a:t>
            </a:r>
            <a:r>
              <a:rPr sz="1300" b="0">
                <a:solidFill>
                  <a:srgbClr val="0F172A"/>
                </a:solidFill>
                <a:latin typeface="Calibri"/>
              </a:rPr>
              <a:t> from SPEC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— requirements RTL-facing tests may miss.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Before: tests covered RTL that was already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implemented and wired.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From SPEC: DFT / test-mode bypass was 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required </a:t>
            </a:r>
            <a:r>
              <a:rPr sz="1300" b="1">
                <a:solidFill>
                  <a:srgbClr val="5B21B6"/>
                </a:solidFill>
                <a:latin typeface="Calibri"/>
                <a:highlight>
                  <a:srgbClr val="C4B5FD"/>
                </a:highlight>
              </a:rPr>
              <a:t>feature_list</a:t>
            </a:r>
            <a:r>
              <a:rPr sz="1300" b="0">
                <a:solidFill>
                  <a:srgbClr val="0F172A"/>
                </a:solidFill>
                <a:latin typeface="Calibri"/>
              </a:rPr>
              <a:t> item and </a:t>
            </a:r>
            <a:r>
              <a:rPr sz="1300" b="1">
                <a:solidFill>
                  <a:srgbClr val="92400E"/>
                </a:solidFill>
                <a:latin typeface="Calibri"/>
                <a:highlight>
                  <a:srgbClr val="FDE68A"/>
                </a:highlight>
              </a:rPr>
              <a:t>checkbox</a:t>
            </a:r>
            <a:r>
              <a:rPr sz="1300" b="0">
                <a:solidFill>
                  <a:srgbClr val="0F172A"/>
                </a:solidFill>
                <a:latin typeface="Calibri"/>
              </a:rPr>
              <a:t>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when test_en is on, gated clocks must run.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697480"/>
            <a:ext cx="5486400" cy="3657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How Skill 1.5 + Skill 2 caught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063240"/>
            <a:ext cx="5486400" cy="2834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Skill 1.5 implemented the SPEC </a:t>
            </a:r>
            <a:r>
              <a:rPr sz="1300" b="1">
                <a:solidFill>
                  <a:srgbClr val="92400E"/>
                </a:solidFill>
                <a:latin typeface="Calibri"/>
                <a:highlight>
                  <a:srgbClr val="FDE68A"/>
                </a:highlight>
              </a:rPr>
              <a:t>checkbox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and ran gating-on + test_en asserted.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Observed: gated clocks stayed off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(SPEC expects free-run).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Skill 2 graded against the audit principle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— checker could not be PROVEN.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Result: filed as #4413.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772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DV AI Quality Layer  ·  SMC_CLOCK_GATING case  ·  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1600" bIns="508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Outcome — P1 loop at a glance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CBD5E1"/>
                </a:solidFill>
                <a:latin typeface="Calibri"/>
              </a:rPr>
              <a:t>Rework and re-review are part of the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2697480" cy="502920"/>
          </a:xfrm>
          <a:prstGeom prst="roundRect">
            <a:avLst>
              <a:gd name="adj" fmla="val 10000"/>
            </a:avLst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Implement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2697480" cy="3657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65960"/>
            <a:ext cx="26974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Write tests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Emit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7138" y="1005840"/>
            <a:ext cx="2697480" cy="502920"/>
          </a:xfrm>
          <a:prstGeom prst="roundRect">
            <a:avLst>
              <a:gd name="adj" fmla="val 10000"/>
            </a:avLst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7138" y="1600200"/>
            <a:ext cx="2697480" cy="3657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7138" y="1965960"/>
            <a:ext cx="26974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NOT-READY first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Then CLOSED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7076" y="1005840"/>
            <a:ext cx="2697480" cy="502920"/>
          </a:xfrm>
          <a:prstGeom prst="roundRect">
            <a:avLst>
              <a:gd name="adj" fmla="val 10000"/>
            </a:avLst>
          </a:prstGeom>
          <a:solidFill>
            <a:srgbClr val="9F1239"/>
          </a:solidFill>
          <a:ln>
            <a:solidFill>
              <a:srgbClr val="9F1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Peer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7076" y="1600200"/>
            <a:ext cx="2697480" cy="365760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7076" y="1965960"/>
            <a:ext cx="26974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INSUFF → FAIL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Then 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37015" y="1005840"/>
            <a:ext cx="2697480" cy="502920"/>
          </a:xfrm>
          <a:prstGeom prst="roundRect">
            <a:avLst>
              <a:gd name="adj" fmla="val 10000"/>
            </a:avLst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76200" bIns="50800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Close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37015" y="1600200"/>
            <a:ext cx="2697480" cy="3657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37015" y="1965960"/>
            <a:ext cx="26974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Amend + re-prove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Owner signoff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154680" y="1115568"/>
            <a:ext cx="201168" cy="146304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6014618" y="1115568"/>
            <a:ext cx="201168" cy="146304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8874556" y="1115568"/>
            <a:ext cx="201168" cy="146304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474720"/>
            <a:ext cx="5532120" cy="3657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What improved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0480"/>
            <a:ext cx="553212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Hollow checks did not get a free PASS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Missing SPEC interaction was found and amended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DFT / test_en gap became a filed bug (#4413)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474720"/>
            <a:ext cx="5486400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What stayed the same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840480"/>
            <a:ext cx="54864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27000" bIns="101600"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Designer / DV re-approve contract changes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Peer remains advisory only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Final Done stays with human signoff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112772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DV AI Quality Layer  ·  SMC_CLOCK_GATING case  ·  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